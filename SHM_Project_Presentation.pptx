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CF0F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CF0F1"/>
                </a:solidFill>
                <a:latin typeface="Arial"/>
              </a:rPr>
              <a:t>Strain Reading Over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Strain (µε)</c:v>
                </c:pt>
              </c:strCache>
            </c:strRef>
          </c:tx>
          <c:spPr>
            <a:solidFill>
              <a:srgbClr val="E67E22"/>
            </a:solidFill>
            <a:ln w="28575" cap="flat">
              <a:solidFill>
                <a:srgbClr val="E67E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15</c:v>
                </c:pt>
                <c:pt idx="2">
                  <c:v>14</c:v>
                </c:pt>
                <c:pt idx="3">
                  <c:v>18</c:v>
                </c:pt>
                <c:pt idx="4">
                  <c:v>22</c:v>
                </c:pt>
                <c:pt idx="5">
                  <c:v>20</c:v>
                </c:pt>
                <c:pt idx="6">
                  <c:v>26</c:v>
                </c:pt>
                <c:pt idx="7">
                  <c:v>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B4A5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631"/>
        </a:solidFill>
        <a:ln>
          <a:noFill/>
        </a:ln>
        <a:effectLst/>
      </c:spPr>
    </c:plotArea>
    <c:plotVisOnly val="1"/>
    <c:dispBlanksAs val="span"/>
  </c:chart>
  <c:spPr>
    <a:solidFill>
      <a:srgbClr val="1B263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3E50"/>
                </a:solidFill>
                <a:latin typeface="Arial"/>
              </a:rPr>
              <a:t>Strain Response: Healthy vs Damaged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 State</c:v>
                </c:pt>
              </c:strCache>
            </c:strRef>
          </c:tx>
          <c:spPr>
            <a:solidFill>
              <a:srgbClr val="2C3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L1</c:v>
                  </c:pt>
                  <c:pt idx="1">
                    <c:v>L2</c:v>
                  </c:pt>
                  <c:pt idx="2">
                    <c:v>L3</c:v>
                  </c:pt>
                  <c:pt idx="3">
                    <c:v>L4</c:v>
                  </c:pt>
                  <c:pt idx="4">
                    <c:v>L5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18</c:v>
                </c:pt>
                <c:pt idx="2">
                  <c:v>25</c:v>
                </c:pt>
                <c:pt idx="3">
                  <c:v>33</c:v>
                </c:pt>
                <c:pt idx="4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Damaged State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L1</c:v>
                  </c:pt>
                  <c:pt idx="1">
                    <c:v>L2</c:v>
                  </c:pt>
                  <c:pt idx="2">
                    <c:v>L3</c:v>
                  </c:pt>
                  <c:pt idx="3">
                    <c:v>L4</c:v>
                  </c:pt>
                  <c:pt idx="4">
                    <c:v>L5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</c:v>
                </c:pt>
                <c:pt idx="1">
                  <c:v>24</c:v>
                </c:pt>
                <c:pt idx="2">
                  <c:v>34</c:v>
                </c:pt>
                <c:pt idx="3">
                  <c:v>47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Load Position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Strain (µε)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93192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94360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914400"/>
            <a:ext cx="128016" cy="128016"/>
          </a:xfrm>
          <a:prstGeom prst="ellipse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920240"/>
            <a:ext cx="128016" cy="128016"/>
          </a:xfrm>
          <a:prstGeom prst="ellipse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914400"/>
            <a:ext cx="128016" cy="128016"/>
          </a:xfrm>
          <a:prstGeom prst="ellipse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2926080"/>
            <a:ext cx="128016" cy="128016"/>
          </a:xfrm>
          <a:prstGeom prst="ellipse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0" y="914400"/>
            <a:ext cx="128016" cy="128016"/>
          </a:xfrm>
          <a:prstGeom prst="ellipse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3931920"/>
            <a:ext cx="128016" cy="128016"/>
          </a:xfrm>
          <a:prstGeom prst="ellipse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06640" y="4937760"/>
            <a:ext cx="128016" cy="128016"/>
          </a:xfrm>
          <a:prstGeom prst="ellipse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0" y="3931920"/>
            <a:ext cx="128016" cy="128016"/>
          </a:xfrm>
          <a:prstGeom prst="ellipse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HEALTH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SYSTEM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sensing, data acquisition and analysis for early damage detection in civil structures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5074920"/>
            <a:ext cx="457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Project Presentation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Civil / Structural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Structural Health Monitoring?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Health Monitoring (SHM) is the process of implementing a damage identification strategy for civil, mechanical and aerospace structures using an integrated network of sensors. It continuously observes a structure over time, records its response to operational and environmental loads, and extracts damage-sensitive features to assess current structural condition.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39502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round-the-clock condition assessment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379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46360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sensor signals into actionable insight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065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3218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damage before it becomes critical failure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1371600"/>
            <a:ext cx="4617720" cy="48920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600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UNDER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4023360"/>
            <a:ext cx="4023360" cy="10972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0" y="4133088"/>
            <a:ext cx="109728" cy="5029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0" y="4133088"/>
            <a:ext cx="109728" cy="5029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4133088"/>
            <a:ext cx="109728" cy="5029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4133088"/>
            <a:ext cx="109728" cy="5029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38560" y="4133088"/>
            <a:ext cx="109728" cy="5029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3200400"/>
            <a:ext cx="2011680" cy="82296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4023360"/>
            <a:ext cx="2011680" cy="-82296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8320" y="306324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5029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attached along the span continuously stream strain, vibration and displacement data to a central monitoring unit.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structures need monitoring?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infrastructure, increasing load demands and exposure to environmental stress cause gradual, often invisible degradation. Conventional periodic visual inspection is slow, subjective, and cannot detect internal or early-stage damage — increasing the risk of sudden structural failure.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97480" cy="30175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34640"/>
            <a:ext cx="269748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Ageing Infrastructure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Bridges, buildings and dams built decades ago now operate beyond intended design life.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2697480" cy="30175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2834640"/>
            <a:ext cx="269748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3611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42519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inspections happen periodically, missing damage that develops between visits.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2697480" cy="30175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834640"/>
            <a:ext cx="269748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611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Catastrophic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2519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micro-cracks or fatigue can escalate into sudden, costly structural collapse.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26880" y="2834640"/>
            <a:ext cx="2697480" cy="30175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2834640"/>
            <a:ext cx="269748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9760" y="3611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Maintenance Cost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09760" y="42519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repair after failure costs far more than early, condition-based intervention.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aims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149840" cy="7772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9006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sensor network to continuously acquire strain, vibration and tilt data from a test structure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01498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450592"/>
            <a:ext cx="9006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data acquisition and transmission pipeline from sensors to a processing unit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10149840" cy="7772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11296"/>
            <a:ext cx="457200" cy="45720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346704"/>
            <a:ext cx="9006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analyse sensor signals to identify damage-sensitive features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42816"/>
            <a:ext cx="101498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07408"/>
            <a:ext cx="457200" cy="45720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242816"/>
            <a:ext cx="9006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dashboard / alert system for structural condition visualization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38928"/>
            <a:ext cx="10149840" cy="7772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303520"/>
            <a:ext cx="457200" cy="45720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38928"/>
            <a:ext cx="9006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system against known load and damage scenarios on a scaled model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51460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Layer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348740" y="3063240"/>
            <a:ext cx="274320" cy="2743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4874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3063240"/>
            <a:ext cx="292608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15768" y="2377440"/>
            <a:ext cx="18745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25496" y="251460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15868" y="3063240"/>
            <a:ext cx="274320" cy="2743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515868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90288" y="3063240"/>
            <a:ext cx="292608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82896" y="2377440"/>
            <a:ext cx="1874520" cy="137160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92624" y="251460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Unit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82996" y="3063240"/>
            <a:ext cx="274320" cy="2743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682996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57416" y="3063240"/>
            <a:ext cx="292608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50024" y="2377440"/>
            <a:ext cx="18745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59752" y="251460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50124" y="3063240"/>
            <a:ext cx="274320" cy="2743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850124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24544" y="3063240"/>
            <a:ext cx="292608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17152" y="2377440"/>
            <a:ext cx="18745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26880" y="251460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Dashboard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017252" y="3063240"/>
            <a:ext cx="274320" cy="2743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017252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0690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gauges, accelerometers, tilt &amp; displacement sensors mounted on structure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15768" y="40690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conditioning, amplification &amp; analog-to-digital conversion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82896" y="40690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/ Raspberry Pi runs feature extraction &amp; threshold checks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50024" y="40690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(Wi-Fi / GSM / LoRa) transmission to cloud or local server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17152" y="406908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visualization, data logging &amp; alert generation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 Used in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Strain Gauges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286000"/>
            <a:ext cx="3026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minute surface deformation to detect stress concentration and fatigue-prone zones.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150876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709928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Accelerometers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61688" y="2286000"/>
            <a:ext cx="3026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vibration response and dynamic behaviour under load or seismic excitation.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50876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73568" y="1709928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7973568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Piezoelectric Sensors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73568" y="2286000"/>
            <a:ext cx="3026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voltage under mechanical stress; useful for high-frequency dynamic monitoring.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904488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Fiber Optic Sensors (FBG)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480560"/>
            <a:ext cx="3026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distributed strain and temperature sensing, immune to electromagnetic noise.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60520" y="370332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61688" y="3904488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4361688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886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Tilt / Displacement Sensors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1688" y="4480560"/>
            <a:ext cx="3026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inclination and relative movement to flag settlement or misalignment.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0" y="370332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73568" y="3904488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7973568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0" y="3886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&amp; Humidity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73568" y="4480560"/>
            <a:ext cx="3026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environmental factors that influence material behaviour and sensor drift.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 —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1540" y="2057400"/>
            <a:ext cx="0" cy="502920"/>
          </a:xfrm>
          <a:prstGeom prst="line">
            <a:avLst/>
          </a:prstGeom>
          <a:noFill/>
          <a:ln w="19050">
            <a:solidFill>
              <a:srgbClr val="5D6D7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153619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53619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continuously sample physical parameters (strain, vibration, tilt) at fixed intervals.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1540" y="3017520"/>
            <a:ext cx="0" cy="502920"/>
          </a:xfrm>
          <a:prstGeom prst="line">
            <a:avLst/>
          </a:prstGeom>
          <a:noFill/>
          <a:ln w="19050">
            <a:solidFill>
              <a:srgbClr val="5D6D7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371600" y="24963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Conditioning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49631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analog signals are filtered, amplified and converted to digital form.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1540" y="3977640"/>
            <a:ext cx="0" cy="502920"/>
          </a:xfrm>
          <a:prstGeom prst="line">
            <a:avLst/>
          </a:prstGeom>
          <a:noFill/>
          <a:ln w="19050">
            <a:solidFill>
              <a:srgbClr val="5D6D7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371600" y="34564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45643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damage-sensitive indicators are computed (peak strain, frequency shift, RMS).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1540" y="4937760"/>
            <a:ext cx="0" cy="502920"/>
          </a:xfrm>
          <a:prstGeom prst="line">
            <a:avLst/>
          </a:prstGeom>
          <a:noFill/>
          <a:ln w="19050">
            <a:solidFill>
              <a:srgbClr val="5D6D7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371600" y="44165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Comparison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441655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features are compared against baseline / safe operating limits.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3766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&amp; Visualization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537667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logged, plotted on a dashboard, and alerts are raised if limits are exceeded.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417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Microcontroller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/ ESP32 for sensor interfacing and local 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508760"/>
            <a:ext cx="3429000" cy="1417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9" name="Shape 7"/>
          <p:cNvSpPr/>
          <p:nvPr/>
        </p:nvSpPr>
        <p:spPr>
          <a:xfrm>
            <a:off x="4160520" y="1508760"/>
            <a:ext cx="54864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Module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/ signal conditioning board for precise analog capture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0" y="1508760"/>
            <a:ext cx="3429000" cy="1417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0" y="1508760"/>
            <a:ext cx="54864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Module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(ESP8266) / GSM module for remote data transmission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3429000" cy="1417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127248"/>
            <a:ext cx="54864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644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Supply Unit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67588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DC supply with battery backup for continuous operation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3127248"/>
            <a:ext cx="3429000" cy="1417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1" name="Shape 19"/>
          <p:cNvSpPr/>
          <p:nvPr/>
        </p:nvSpPr>
        <p:spPr>
          <a:xfrm>
            <a:off x="4160520" y="3127248"/>
            <a:ext cx="54864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32644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/ Local Server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367588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time-series sensor data and hosts the monitoring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127248"/>
            <a:ext cx="3429000" cy="1417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0" y="3127248"/>
            <a:ext cx="54864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32644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/ Alert Unit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01000" y="367588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/ LED indicators and app notifications for on-site alerts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Data Processing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are logged as time-series data and processed through a pipeline that cleans noise, extracts damage-sensitive features, and compares them against baseline structural behaviour.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791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(NumPy, Pandas) for signal processing &amp;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821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/ Simulink for FFT and modal analysis 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850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ThingSpeak / MQTT for cloud data streaming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879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(HTML/JS or Grafana) for live visualization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5394960" cy="484632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17320"/>
            <a:ext cx="5394960" cy="4114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554480"/>
            <a:ext cx="137160" cy="137160"/>
          </a:xfrm>
          <a:prstGeom prst="ellipse">
            <a:avLst/>
          </a:prstGeom>
          <a:solidFill>
            <a:srgbClr val="CB4335"/>
          </a:solidFill>
          <a:ln/>
        </p:spPr>
      </p:sp>
      <p:sp>
        <p:nvSpPr>
          <p:cNvPr id="16" name="Shape 14"/>
          <p:cNvSpPr/>
          <p:nvPr/>
        </p:nvSpPr>
        <p:spPr>
          <a:xfrm>
            <a:off x="6656832" y="1554480"/>
            <a:ext cx="137160" cy="1371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Shape 15"/>
          <p:cNvSpPr/>
          <p:nvPr/>
        </p:nvSpPr>
        <p:spPr>
          <a:xfrm>
            <a:off x="6912864" y="1554480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490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DASHBOARD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46520" y="2011680"/>
          <a:ext cx="49377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446520" y="4160520"/>
            <a:ext cx="4937760" cy="502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 01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104120" y="4334256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0"/>
          <p:cNvSpPr/>
          <p:nvPr/>
        </p:nvSpPr>
        <p:spPr>
          <a:xfrm>
            <a:off x="10332720" y="41605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46520" y="4782312"/>
            <a:ext cx="4937760" cy="502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22"/>
          <p:cNvSpPr/>
          <p:nvPr/>
        </p:nvSpPr>
        <p:spPr>
          <a:xfrm>
            <a:off x="6629400" y="4782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 02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0104120" y="4956048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Text 24"/>
          <p:cNvSpPr/>
          <p:nvPr/>
        </p:nvSpPr>
        <p:spPr>
          <a:xfrm>
            <a:off x="10332720" y="478231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46520" y="5404104"/>
            <a:ext cx="4937760" cy="502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9" name="Text 26"/>
          <p:cNvSpPr/>
          <p:nvPr/>
        </p:nvSpPr>
        <p:spPr>
          <a:xfrm>
            <a:off x="6629400" y="5404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 03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104120" y="557784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1" name="Text 28"/>
          <p:cNvSpPr/>
          <p:nvPr/>
        </p:nvSpPr>
        <p:spPr>
          <a:xfrm>
            <a:off x="10332720" y="540410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Observations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was tested on a scaled beam / model structure under incremental static loading. Sensor output was recorded before and after simulated damage (notch / crack) to validate detection accuracy.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286000"/>
          <a:ext cx="6126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040880" y="23774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04088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detection accuracy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0" y="36118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0408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 latency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40880" y="4846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±3%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040880" y="5623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measurement error margin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SHM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0" y="1691640"/>
            <a:ext cx="365760" cy="36576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Bridges &amp; Flyovers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load and vibration monitoring to prevent collapse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50876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95160" y="1691640"/>
            <a:ext cx="365760" cy="36576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17373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High-Rise Buildings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sway, tilt and seismic response in real 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0" y="150876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607040" y="1691640"/>
            <a:ext cx="365760" cy="36576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17373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Dams &amp; Reservoirs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1000" y="23774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seepage, displacement and structural stress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3886200"/>
            <a:ext cx="365760" cy="36576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Structures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572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fatigue in towers, chimneys and pipelines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60520" y="370332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95160" y="3886200"/>
            <a:ext cx="365760" cy="36576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Heritage Structures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4572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monitoring to preserve historic buildings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0" y="3703320"/>
            <a:ext cx="34290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07040" y="3886200"/>
            <a:ext cx="365760" cy="36576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31" name="Text 29"/>
          <p:cNvSpPr/>
          <p:nvPr/>
        </p:nvSpPr>
        <p:spPr>
          <a:xfrm>
            <a:off x="106070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B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0100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 &amp; Wind Turbines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01000" y="4572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fatigue in blades, fuselage and rotating parts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92040"/>
          </a:xfrm>
          <a:prstGeom prst="rect">
            <a:avLst/>
          </a:prstGeom>
          <a:solidFill>
            <a:srgbClr val="EAF7E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1122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damage detection, reducing catastrophic failure risk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8895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continuous, objective, real-time condition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long-term maintenance and inspection costs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61772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4439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structure service life through timely intervention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539496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52212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large or geographically distributed infrastructure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463040"/>
            <a:ext cx="5349240" cy="4892040"/>
          </a:xfrm>
          <a:prstGeom prst="rect">
            <a:avLst/>
          </a:prstGeom>
          <a:solidFill>
            <a:srgbClr val="FDE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43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2286000"/>
            <a:ext cx="109728" cy="109728"/>
          </a:xfrm>
          <a:prstGeom prst="ellipse">
            <a:avLst/>
          </a:prstGeom>
          <a:solidFill>
            <a:srgbClr val="CB4335"/>
          </a:solidFill>
          <a:ln/>
        </p:spPr>
      </p:sp>
      <p:sp>
        <p:nvSpPr>
          <p:cNvPr id="19" name="Text 17"/>
          <p:cNvSpPr/>
          <p:nvPr/>
        </p:nvSpPr>
        <p:spPr>
          <a:xfrm>
            <a:off x="6830568" y="21122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initial installation and sensor calibration cost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3063240"/>
            <a:ext cx="109728" cy="109728"/>
          </a:xfrm>
          <a:prstGeom prst="ellipse">
            <a:avLst/>
          </a:prstGeom>
          <a:solidFill>
            <a:srgbClr val="CB4335"/>
          </a:solidFill>
          <a:ln/>
        </p:spPr>
      </p:sp>
      <p:sp>
        <p:nvSpPr>
          <p:cNvPr id="21" name="Text 19"/>
          <p:cNvSpPr/>
          <p:nvPr/>
        </p:nvSpPr>
        <p:spPr>
          <a:xfrm>
            <a:off x="6830568" y="28895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durability affected by weather and long-term exposure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3840480"/>
            <a:ext cx="109728" cy="109728"/>
          </a:xfrm>
          <a:prstGeom prst="ellipse">
            <a:avLst/>
          </a:prstGeom>
          <a:solidFill>
            <a:srgbClr val="CB4335"/>
          </a:solidFill>
          <a:ln/>
        </p:spPr>
      </p:sp>
      <p:sp>
        <p:nvSpPr>
          <p:cNvPr id="23" name="Text 21"/>
          <p:cNvSpPr/>
          <p:nvPr/>
        </p:nvSpPr>
        <p:spPr>
          <a:xfrm>
            <a:off x="6830568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reliable power and network connectivity on-site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4617720"/>
            <a:ext cx="109728" cy="109728"/>
          </a:xfrm>
          <a:prstGeom prst="ellipse">
            <a:avLst/>
          </a:prstGeom>
          <a:solidFill>
            <a:srgbClr val="CB4335"/>
          </a:solidFill>
          <a:ln/>
        </p:spPr>
      </p:sp>
      <p:sp>
        <p:nvSpPr>
          <p:cNvPr id="25" name="Text 23"/>
          <p:cNvSpPr/>
          <p:nvPr/>
        </p:nvSpPr>
        <p:spPr>
          <a:xfrm>
            <a:off x="6830568" y="44439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possible without proper threshold tuning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5394960"/>
            <a:ext cx="109728" cy="109728"/>
          </a:xfrm>
          <a:prstGeom prst="ellipse">
            <a:avLst/>
          </a:prstGeom>
          <a:solidFill>
            <a:srgbClr val="CB4335"/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52212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deployment generates significant data to manage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developed SHM prototype successfully demonstrates real-time acquisition, processing and visualization of structural response data, validating its ability to flag abnormal behaviour early and support data-driven maintenance decisions.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2606040" cy="26517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383280"/>
            <a:ext cx="26060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Prediction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to predict remaining useful life of 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3383280"/>
            <a:ext cx="2606040" cy="26517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1" name="Shape 9"/>
          <p:cNvSpPr/>
          <p:nvPr/>
        </p:nvSpPr>
        <p:spPr>
          <a:xfrm>
            <a:off x="3355848" y="3383280"/>
            <a:ext cx="26060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Computing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38728" y="42062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On-sensor processing to cut latency and bandwidth needs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3383280"/>
            <a:ext cx="2606040" cy="26517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5" name="Shape 13"/>
          <p:cNvSpPr/>
          <p:nvPr/>
        </p:nvSpPr>
        <p:spPr>
          <a:xfrm>
            <a:off x="6163056" y="3383280"/>
            <a:ext cx="26060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Drone-Assisted Inspection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45936" y="42062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SHM data with aerial visual inspection for full coverage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70264" y="3383280"/>
            <a:ext cx="2606040" cy="26517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9" name="Shape 17"/>
          <p:cNvSpPr/>
          <p:nvPr/>
        </p:nvSpPr>
        <p:spPr>
          <a:xfrm>
            <a:off x="8970264" y="3383280"/>
            <a:ext cx="26060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9153144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Sensor Networks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53144" y="42062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Denser, low-power wireless sensor grids for city-scale monitoring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93192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943600"/>
            <a:ext cx="12188952" cy="0"/>
          </a:xfrm>
          <a:prstGeom prst="line">
            <a:avLst/>
          </a:prstGeom>
          <a:noFill/>
          <a:ln w="6350">
            <a:solidFill>
              <a:srgbClr val="5D6D7E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457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6634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IEEE / ASCE journals on Structural Health Monitoring; sensor &amp; microcontroller datasheets (Arduino, ESP32); project lab test records.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2026-07-12T17:23:35Z</dcterms:created>
  <dcterms:modified xsi:type="dcterms:W3CDTF">2026-07-12T17:23:35Z</dcterms:modified>
</cp:coreProperties>
</file>